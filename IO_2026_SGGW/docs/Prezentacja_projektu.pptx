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000" b="1">
                <a:solidFill>
                  <a:srgbClr val="FFFFFF"/>
                </a:solidFill>
                <a:latin typeface="Segoe UI"/>
              </a:rPr>
              <a:t>Sprawdzanie Kolokwiów</a:t>
            </a:r>
          </a:p>
          <a:p>
            <a:r>
              <a:rPr sz="2200" b="0">
                <a:solidFill>
                  <a:srgbClr val="E6F0E6"/>
                </a:solidFill>
                <a:latin typeface="Segoe UI"/>
              </a:rPr>
              <a:t>Automatyczne sprawdzanie kolokwiów z programowania w C#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Segoe UI"/>
              </a:rPr>
              <a:t>Inżynieria Oprogramowania 2026 - SGGW</a:t>
            </a:r>
          </a:p>
          <a:p>
            <a:r>
              <a:rPr sz="1600" b="0">
                <a:solidFill>
                  <a:srgbClr val="FFFFFF"/>
                </a:solidFill>
                <a:latin typeface="Segoe UI"/>
              </a:rPr>
              <a:t>Kierownik projektu: Daniel Szeląg</a:t>
            </a:r>
          </a:p>
          <a:p>
            <a:r>
              <a:rPr sz="1400" b="0">
                <a:solidFill>
                  <a:srgbClr val="FFFFFF"/>
                </a:solidFill>
                <a:latin typeface="Segoe U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"/>
              </a:rPr>
              <a:t>Problem i cel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222222"/>
                </a:solidFill>
                <a:latin typeface="Segoe UI"/>
              </a:rPr>
              <a:t>•  Ręczne sprawdzanie kolokwiów z programowania jest czasochłonne i podatne na błędy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22222"/>
                </a:solidFill>
                <a:latin typeface="Segoe UI"/>
              </a:rPr>
              <a:t>•  Cel: zautomatyzować kompilację, uruchomienie i ocenę rozwiązań studentów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22222"/>
                </a:solidFill>
                <a:latin typeface="Segoe UI"/>
              </a:rPr>
              <a:t>•  Prowadzący wczytuje klucz odpowiedzi i pliki .cs - aplikacja wystawia wyniki i punkty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"/>
              </a:rPr>
              <a:t>Zakres i funkcje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222222"/>
                </a:solidFill>
                <a:latin typeface="Segoe UI"/>
              </a:rPr>
              <a:t>•  Wczytanie klucza odpowiedzi z pliku Excel (XLSX)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22222"/>
                </a:solidFill>
                <a:latin typeface="Segoe UI"/>
              </a:rPr>
              <a:t>•  Dodawanie rozwiązań .cs: przeciągnij-upuść lub okno wyboru (wiele plików)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22222"/>
                </a:solidFill>
                <a:latin typeface="Segoe UI"/>
              </a:rPr>
              <a:t>•  Kompilacja kodu studenta w pamięci (Roslyn)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22222"/>
                </a:solidFill>
                <a:latin typeface="Segoe UI"/>
              </a:rPr>
              <a:t>•  Uruchomienie metod z limitem czasu na zestawie przypadków testowych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22222"/>
                </a:solidFill>
                <a:latin typeface="Segoe UI"/>
              </a:rPr>
              <a:t>•  Ocena i prezentacja wyników w tabeli z kolorami statusów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22222"/>
                </a:solidFill>
                <a:latin typeface="Segoe UI"/>
              </a:rPr>
              <a:t>•  Eksport wyników do pliku Excel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"/>
              </a:rPr>
              <a:t>Technologie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222222"/>
                </a:solidFill>
                <a:latin typeface="Segoe UI"/>
              </a:rPr>
              <a:t>•  C# / Windows Forms - .NET Framework 4.7.2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22222"/>
                </a:solidFill>
                <a:latin typeface="Segoe UI"/>
              </a:rPr>
              <a:t>•  Roslyn (Microsoft.CodeAnalysis.CSharp) - kompilacja kodu w pamięci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22222"/>
                </a:solidFill>
                <a:latin typeface="Segoe UI"/>
              </a:rPr>
              <a:t>•  ClosedXML - odczyt klucza i eksport wyników (XLSX)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22222"/>
                </a:solidFill>
                <a:latin typeface="Segoe UI"/>
              </a:rPr>
              <a:t>•  xUnit - testy jednostkowe i integracyjne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22222"/>
                </a:solidFill>
                <a:latin typeface="Segoe UI"/>
              </a:rPr>
              <a:t>•  Doxygen - dokumentacja API (HTML)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"/>
              </a:rPr>
              <a:t>Architektura - diagram klas</a:t>
            </a:r>
          </a:p>
        </p:txBody>
      </p:sp>
      <p:pic>
        <p:nvPicPr>
          <p:cNvPr id="3" name="Picture 2" descr="diagram_k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711" y="1325880"/>
            <a:ext cx="7340272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161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Segoe UI"/>
              </a:rPr>
              <a:t>Warstwa Core: modele danych, silnik oceniania i typy pomocnicze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"/>
              </a:rPr>
              <a:t>Jak to działa - przepływ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222222"/>
                </a:solidFill>
                <a:latin typeface="Segoe UI"/>
              </a:rPr>
              <a:t>•  1. Wczytanie klucza XLSX → obiekt AnswerKey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22222"/>
                </a:solidFill>
                <a:latin typeface="Segoe UI"/>
              </a:rPr>
              <a:t>•  2. Dodanie rozwiązań .cs (1 plik = 1 student)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22222"/>
                </a:solidFill>
                <a:latin typeface="Segoe UI"/>
              </a:rPr>
              <a:t>•  3. Kompilacja kodu studenta (Roslyn)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22222"/>
                </a:solidFill>
                <a:latin typeface="Segoe UI"/>
              </a:rPr>
              <a:t>•  4. Wyszukanie metody po znormalizowanej nazwie zadania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22222"/>
                </a:solidFill>
                <a:latin typeface="Segoe UI"/>
              </a:rPr>
              <a:t>•  5. Parsowanie parametrów z klucza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22222"/>
                </a:solidFill>
                <a:latin typeface="Segoe UI"/>
              </a:rPr>
              <a:t>•  6. Wykonanie z limitem czasu (timeout)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22222"/>
                </a:solidFill>
                <a:latin typeface="Segoe UI"/>
              </a:rPr>
              <a:t>•  7. Weryfikacja wyniku z oczekiwanym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22222"/>
                </a:solidFill>
                <a:latin typeface="Segoe UI"/>
              </a:rPr>
              <a:t>•  8. Prezentacja w tabeli (kolory statusów)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22222"/>
                </a:solidFill>
                <a:latin typeface="Segoe UI"/>
              </a:rPr>
              <a:t>•  9. Eksport wyników do XLSX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"/>
              </a:rPr>
              <a:t>Interfejs - okno główne</a:t>
            </a:r>
          </a:p>
        </p:txBody>
      </p:sp>
      <p:pic>
        <p:nvPicPr>
          <p:cNvPr id="3" name="Picture 2" descr="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563" y="1325880"/>
            <a:ext cx="6274569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161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Segoe UI"/>
              </a:rPr>
              <a:t>Wczytanie klucza, dodawanie plików .cs, limit czasu, sprawdzanie i eksport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"/>
              </a:rPr>
              <a:t>Interfejs - wyniki</a:t>
            </a:r>
          </a:p>
        </p:txBody>
      </p:sp>
      <p:pic>
        <p:nvPicPr>
          <p:cNvPr id="3" name="Picture 2" descr="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1439" y="1325880"/>
            <a:ext cx="6288817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161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Segoe UI"/>
              </a:rPr>
              <a:t>Kolory wierszy wg statusu: zielony = Ok, czerwony = Bledny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"/>
              </a:rPr>
              <a:t>Statusy wyników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222222"/>
                </a:solidFill>
                <a:latin typeface="Segoe UI"/>
              </a:rPr>
              <a:t>•  Ok - wynik zgodny z kluczem (1 pkt)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22222"/>
                </a:solidFill>
                <a:latin typeface="Segoe UI"/>
              </a:rPr>
              <a:t>•  Bledny - wynik niezgodny z kluczem (0 pkt)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22222"/>
                </a:solidFill>
                <a:latin typeface="Segoe UI"/>
              </a:rPr>
              <a:t>•  Timeout - przekroczono limit czasu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22222"/>
                </a:solidFill>
                <a:latin typeface="Segoe UI"/>
              </a:rPr>
              <a:t>•  BrakMetody - nie znaleziono metody dla zadania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22222"/>
                </a:solidFill>
                <a:latin typeface="Segoe UI"/>
              </a:rPr>
              <a:t>•  Wyjatek - metoda rzuciła wyjątek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22222"/>
                </a:solidFill>
                <a:latin typeface="Segoe UI"/>
              </a:rPr>
              <a:t>•  BladKompilacji - kod studenta się nie skompilował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22222"/>
                </a:solidFill>
                <a:latin typeface="Segoe UI"/>
              </a:rPr>
              <a:t>•  ZlyFormatParametrow - błąd parsowania parametrów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"/>
              </a:rPr>
              <a:t>Testy i jakość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1669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 dirty="0">
                <a:solidFill>
                  <a:srgbClr val="222222"/>
                </a:solidFill>
                <a:latin typeface="Segoe UI"/>
              </a:rPr>
              <a:t>•  28 </a:t>
            </a:r>
            <a:r>
              <a:rPr sz="2000" b="0" dirty="0" err="1">
                <a:solidFill>
                  <a:srgbClr val="222222"/>
                </a:solidFill>
                <a:latin typeface="Segoe UI"/>
              </a:rPr>
              <a:t>testów</a:t>
            </a:r>
            <a:r>
              <a:rPr sz="20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2000" b="0" dirty="0" err="1">
                <a:solidFill>
                  <a:srgbClr val="222222"/>
                </a:solidFill>
                <a:latin typeface="Segoe UI"/>
              </a:rPr>
              <a:t>automatycznych</a:t>
            </a:r>
            <a:r>
              <a:rPr sz="2000" b="0" dirty="0">
                <a:solidFill>
                  <a:srgbClr val="222222"/>
                </a:solidFill>
                <a:latin typeface="Segoe UI"/>
              </a:rPr>
              <a:t> (</a:t>
            </a:r>
            <a:r>
              <a:rPr sz="2000" b="0" dirty="0" err="1">
                <a:solidFill>
                  <a:srgbClr val="222222"/>
                </a:solidFill>
                <a:latin typeface="Segoe UI"/>
              </a:rPr>
              <a:t>xUnit</a:t>
            </a:r>
            <a:r>
              <a:rPr sz="2000" b="0" dirty="0">
                <a:solidFill>
                  <a:srgbClr val="222222"/>
                </a:solidFill>
                <a:latin typeface="Segoe UI"/>
              </a:rPr>
              <a:t>): </a:t>
            </a:r>
            <a:r>
              <a:rPr sz="2000" b="0" dirty="0" err="1">
                <a:solidFill>
                  <a:srgbClr val="222222"/>
                </a:solidFill>
                <a:latin typeface="Segoe UI"/>
              </a:rPr>
              <a:t>jednostkowe</a:t>
            </a:r>
            <a:r>
              <a:rPr sz="20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2000" b="0" dirty="0" err="1">
                <a:solidFill>
                  <a:srgbClr val="222222"/>
                </a:solidFill>
                <a:latin typeface="Segoe UI"/>
              </a:rPr>
              <a:t>i</a:t>
            </a:r>
            <a:r>
              <a:rPr sz="20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2000" b="0" dirty="0" err="1">
                <a:solidFill>
                  <a:srgbClr val="222222"/>
                </a:solidFill>
                <a:latin typeface="Segoe UI"/>
              </a:rPr>
              <a:t>integracyjne</a:t>
            </a:r>
            <a:endParaRPr sz="2000" b="0" dirty="0">
              <a:solidFill>
                <a:srgbClr val="222222"/>
              </a:solidFill>
              <a:latin typeface="Segoe UI"/>
            </a:endParaRPr>
          </a:p>
          <a:p>
            <a:pPr>
              <a:spcAft>
                <a:spcPts val="900"/>
              </a:spcAft>
            </a:pPr>
            <a:r>
              <a:rPr sz="2000" b="0" dirty="0">
                <a:solidFill>
                  <a:srgbClr val="222222"/>
                </a:solidFill>
                <a:latin typeface="Segoe UI"/>
              </a:rPr>
              <a:t>•  </a:t>
            </a:r>
            <a:r>
              <a:rPr sz="2000" b="0" dirty="0" err="1">
                <a:solidFill>
                  <a:srgbClr val="222222"/>
                </a:solidFill>
                <a:latin typeface="Segoe UI"/>
              </a:rPr>
              <a:t>Aktualnie</a:t>
            </a:r>
            <a:r>
              <a:rPr sz="2000" b="0" dirty="0">
                <a:solidFill>
                  <a:srgbClr val="222222"/>
                </a:solidFill>
                <a:latin typeface="Segoe UI"/>
              </a:rPr>
              <a:t> 2</a:t>
            </a:r>
            <a:r>
              <a:rPr lang="pl-PL" sz="2000" b="0" dirty="0">
                <a:solidFill>
                  <a:srgbClr val="222222"/>
                </a:solidFill>
                <a:latin typeface="Segoe UI"/>
              </a:rPr>
              <a:t>8</a:t>
            </a:r>
            <a:r>
              <a:rPr sz="2000" b="0" dirty="0">
                <a:solidFill>
                  <a:srgbClr val="222222"/>
                </a:solidFill>
                <a:latin typeface="Segoe UI"/>
              </a:rPr>
              <a:t>/28 </a:t>
            </a:r>
            <a:r>
              <a:rPr sz="2000" b="0" dirty="0" err="1">
                <a:solidFill>
                  <a:srgbClr val="222222"/>
                </a:solidFill>
                <a:latin typeface="Segoe UI"/>
              </a:rPr>
              <a:t>przechodzi</a:t>
            </a:r>
            <a:endParaRPr lang="pl-PL" sz="2000" b="0" dirty="0">
              <a:solidFill>
                <a:srgbClr val="222222"/>
              </a:solidFill>
              <a:latin typeface="Segoe UI"/>
            </a:endParaRPr>
          </a:p>
          <a:p>
            <a:pPr>
              <a:spcAft>
                <a:spcPts val="900"/>
              </a:spcAft>
            </a:pPr>
            <a:r>
              <a:rPr sz="2000" b="0" dirty="0">
                <a:solidFill>
                  <a:srgbClr val="222222"/>
                </a:solidFill>
                <a:latin typeface="Segoe UI"/>
              </a:rPr>
              <a:t>•  </a:t>
            </a:r>
            <a:r>
              <a:rPr sz="2000" b="0" dirty="0" err="1">
                <a:solidFill>
                  <a:srgbClr val="222222"/>
                </a:solidFill>
                <a:latin typeface="Segoe UI"/>
              </a:rPr>
              <a:t>Dokumenty</a:t>
            </a:r>
            <a:r>
              <a:rPr sz="2000" b="0" dirty="0">
                <a:solidFill>
                  <a:srgbClr val="222222"/>
                </a:solidFill>
                <a:latin typeface="Segoe UI"/>
              </a:rPr>
              <a:t>: </a:t>
            </a:r>
            <a:r>
              <a:rPr sz="2000" b="0" dirty="0" err="1">
                <a:solidFill>
                  <a:srgbClr val="222222"/>
                </a:solidFill>
                <a:latin typeface="Segoe UI"/>
              </a:rPr>
              <a:t>scenariusze</a:t>
            </a:r>
            <a:r>
              <a:rPr sz="20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2000" b="0" dirty="0" err="1">
                <a:solidFill>
                  <a:srgbClr val="222222"/>
                </a:solidFill>
                <a:latin typeface="Segoe UI"/>
              </a:rPr>
              <a:t>testowe</a:t>
            </a:r>
            <a:r>
              <a:rPr sz="2000" b="0" dirty="0">
                <a:solidFill>
                  <a:srgbClr val="222222"/>
                </a:solidFill>
                <a:latin typeface="Segoe UI"/>
              </a:rPr>
              <a:t> + </a:t>
            </a:r>
            <a:r>
              <a:rPr sz="2000" b="0" dirty="0" err="1">
                <a:solidFill>
                  <a:srgbClr val="222222"/>
                </a:solidFill>
                <a:latin typeface="Segoe UI"/>
              </a:rPr>
              <a:t>protokoły</a:t>
            </a:r>
            <a:r>
              <a:rPr sz="20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2000" b="0" dirty="0" err="1">
                <a:solidFill>
                  <a:srgbClr val="222222"/>
                </a:solidFill>
                <a:latin typeface="Segoe UI"/>
              </a:rPr>
              <a:t>testowe</a:t>
            </a:r>
            <a:endParaRPr sz="2000" b="0" dirty="0">
              <a:solidFill>
                <a:srgbClr val="222222"/>
              </a:solidFill>
              <a:latin typeface="Segoe UI"/>
            </a:endParaRPr>
          </a:p>
          <a:p>
            <a:pPr>
              <a:spcAft>
                <a:spcPts val="900"/>
              </a:spcAft>
            </a:pPr>
            <a:r>
              <a:rPr sz="2000" b="0" dirty="0">
                <a:solidFill>
                  <a:srgbClr val="222222"/>
                </a:solidFill>
                <a:latin typeface="Segoe UI"/>
              </a:rPr>
              <a:t>•  </a:t>
            </a:r>
            <a:r>
              <a:rPr sz="2000" b="0" dirty="0" err="1">
                <a:solidFill>
                  <a:srgbClr val="222222"/>
                </a:solidFill>
                <a:latin typeface="Segoe UI"/>
              </a:rPr>
              <a:t>Dokumentacja</a:t>
            </a:r>
            <a:r>
              <a:rPr sz="2000" b="0" dirty="0">
                <a:solidFill>
                  <a:srgbClr val="222222"/>
                </a:solidFill>
                <a:latin typeface="Segoe UI"/>
              </a:rPr>
              <a:t> API w </a:t>
            </a:r>
            <a:r>
              <a:rPr sz="2000" b="0" dirty="0" err="1">
                <a:solidFill>
                  <a:srgbClr val="222222"/>
                </a:solidFill>
                <a:latin typeface="Segoe UI"/>
              </a:rPr>
              <a:t>Doxygen</a:t>
            </a:r>
            <a:r>
              <a:rPr sz="2000" b="0" dirty="0">
                <a:solidFill>
                  <a:srgbClr val="222222"/>
                </a:solidFill>
                <a:latin typeface="Segoe UI"/>
              </a:rPr>
              <a:t> (HTML)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"/>
              </a:rPr>
              <a:t>Struktura i podział pracy zespołu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80160"/>
          <a:ext cx="108813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Osoba</a:t>
                      </a:r>
                    </a:p>
                  </a:txBody>
                  <a:tcPr marT="25400" marB="25400">
                    <a:solidFill>
                      <a:srgbClr val="2E6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Rola / grupa</a:t>
                      </a:r>
                    </a:p>
                  </a:txBody>
                  <a:tcPr marT="25400" marB="25400">
                    <a:solidFill>
                      <a:srgbClr val="2E6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Wkład w projekt</a:t>
                      </a:r>
                    </a:p>
                  </a:txBody>
                  <a:tcPr marT="25400" marB="25400">
                    <a:solidFill>
                      <a:srgbClr val="2E6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Daniel Szeląg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Kierownik główny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Architektura, Core, koordynacja, dokumentacja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Hubert Kleczek</a:t>
                      </a:r>
                    </a:p>
                  </a:txBody>
                  <a:tcPr marT="12700" marB="12700">
                    <a:solidFill>
                      <a:srgbClr val="EE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Kier. programistów</a:t>
                      </a:r>
                    </a:p>
                  </a:txBody>
                  <a:tcPr marT="12700" marB="12700">
                    <a:solidFill>
                      <a:srgbClr val="EE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Koordynacja grupy programistów</a:t>
                      </a:r>
                    </a:p>
                  </a:txBody>
                  <a:tcPr marT="12700" marB="12700">
                    <a:solidFill>
                      <a:srgbClr val="EE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Jakub Pasternak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Kier. testerów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Koordynacja grupy testerów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Adam Kujawski</a:t>
                      </a:r>
                    </a:p>
                  </a:txBody>
                  <a:tcPr marT="12700" marB="12700">
                    <a:solidFill>
                      <a:srgbClr val="EE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Programista</a:t>
                      </a:r>
                    </a:p>
                  </a:txBody>
                  <a:tcPr marT="12700" marB="12700">
                    <a:solidFill>
                      <a:srgbClr val="EE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Formularz Drag&amp;Drop, Zadanie 6</a:t>
                      </a:r>
                    </a:p>
                  </a:txBody>
                  <a:tcPr marT="12700" marB="12700">
                    <a:solidFill>
                      <a:srgbClr val="EE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Adrian Kruszewski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Programista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Wczytywanie klucza XLSX (T2)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Krzysztof Langa</a:t>
                      </a:r>
                    </a:p>
                  </a:txBody>
                  <a:tcPr marT="12700" marB="12700">
                    <a:solidFill>
                      <a:srgbClr val="EE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Programista</a:t>
                      </a:r>
                    </a:p>
                  </a:txBody>
                  <a:tcPr marT="12700" marB="12700">
                    <a:solidFill>
                      <a:srgbClr val="EE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Menu kontekstowe, tooltipy, ikona</a:t>
                      </a:r>
                    </a:p>
                  </a:txBody>
                  <a:tcPr marT="12700" marB="12700">
                    <a:solidFill>
                      <a:srgbClr val="EE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Julia Tomczak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Programistka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Eksport XLSX, ProgressBar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Michał Sugier</a:t>
                      </a:r>
                    </a:p>
                  </a:txBody>
                  <a:tcPr marT="12700" marB="12700">
                    <a:solidFill>
                      <a:srgbClr val="EE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Programista</a:t>
                      </a:r>
                    </a:p>
                  </a:txBody>
                  <a:tcPr marT="12700" marB="12700">
                    <a:solidFill>
                      <a:srgbClr val="EE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Uruchamianie metod z limitem czasu</a:t>
                      </a:r>
                    </a:p>
                  </a:txBody>
                  <a:tcPr marT="12700" marB="12700">
                    <a:solidFill>
                      <a:srgbClr val="EE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Bartłomiej Kupiński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Programista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Kompilator Roslyn (T3), filtry dat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Aleksandra Poneta</a:t>
                      </a:r>
                    </a:p>
                  </a:txBody>
                  <a:tcPr marT="12700" marB="12700">
                    <a:solidFill>
                      <a:srgbClr val="EE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Programistka</a:t>
                      </a:r>
                    </a:p>
                  </a:txBody>
                  <a:tcPr marT="12700" marB="12700">
                    <a:solidFill>
                      <a:srgbClr val="EE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GUI: przyciski, filtry, drag&amp;drop (T1)</a:t>
                      </a:r>
                    </a:p>
                  </a:txBody>
                  <a:tcPr marT="12700" marB="12700">
                    <a:solidFill>
                      <a:srgbClr val="EE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Emilia Nita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Tester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Testy CsFileRules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Marcin Piechal</a:t>
                      </a:r>
                    </a:p>
                  </a:txBody>
                  <a:tcPr marT="12700" marB="12700">
                    <a:solidFill>
                      <a:srgbClr val="EE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Tester</a:t>
                      </a:r>
                    </a:p>
                  </a:txBody>
                  <a:tcPr marT="12700" marB="12700">
                    <a:solidFill>
                      <a:srgbClr val="EE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Testy AnswerKeyLoader (T2)</a:t>
                      </a:r>
                    </a:p>
                  </a:txBody>
                  <a:tcPr marT="12700" marB="12700">
                    <a:solidFill>
                      <a:srgbClr val="EE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Antoni Szawłowski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Tester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Testy jednostkowe (T3)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Mikołaj Pacholik</a:t>
                      </a:r>
                    </a:p>
                  </a:txBody>
                  <a:tcPr marT="12700" marB="12700">
                    <a:solidFill>
                      <a:srgbClr val="EE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Tester</a:t>
                      </a:r>
                    </a:p>
                  </a:txBody>
                  <a:tcPr marT="12700" marB="12700">
                    <a:solidFill>
                      <a:srgbClr val="EE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Testy obszaru T4</a:t>
                      </a:r>
                    </a:p>
                  </a:txBody>
                  <a:tcPr marT="12700" marB="12700">
                    <a:solidFill>
                      <a:srgbClr val="EE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Benazir Kazhat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Tester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Segoe UI"/>
                        </a:rPr>
                        <a:t>Testy i weryfikacja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"/>
              </a:rPr>
              <a:t>Podsumowanie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222222"/>
                </a:solidFill>
                <a:latin typeface="Segoe UI"/>
              </a:rPr>
              <a:t>•  Aplikacja realizuje pełny cykl: od klucza i rozwiązań po ocenę i eksport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22222"/>
                </a:solidFill>
                <a:latin typeface="Segoe UI"/>
              </a:rPr>
              <a:t>•  Solidne pokrycie testami (28) i pełna dokumentacja (Doxygen, README, UML)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22222"/>
                </a:solidFill>
                <a:latin typeface="Segoe UI"/>
              </a:rPr>
              <a:t>•  Do domknięcia: 4 testy + drobny bug timeoutu, oddanie w terminie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22222"/>
                </a:solidFill>
                <a:latin typeface="Segoe UI"/>
              </a:rPr>
              <a:t>•  Dziękujemy za uwagę!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595</Words>
  <Application>Microsoft Office PowerPoint</Application>
  <PresentationFormat>Panoramiczny</PresentationFormat>
  <Paragraphs>105</Paragraphs>
  <Slides>12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12</vt:i4>
      </vt:variant>
    </vt:vector>
  </HeadingPairs>
  <TitlesOfParts>
    <vt:vector size="16" baseType="lpstr">
      <vt:lpstr>Arial</vt:lpstr>
      <vt:lpstr>Calibri</vt:lpstr>
      <vt:lpstr>Segoe UI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 Szeląg</cp:lastModifiedBy>
  <cp:revision>2</cp:revision>
  <dcterms:created xsi:type="dcterms:W3CDTF">2013-01-27T09:14:16Z</dcterms:created>
  <dcterms:modified xsi:type="dcterms:W3CDTF">2026-06-29T16:04:19Z</dcterms:modified>
  <cp:category/>
</cp:coreProperties>
</file>